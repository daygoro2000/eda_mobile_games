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Helios" charset="1" panose="020B0504020202020204"/>
      <p:regular r:id="rId21"/>
    </p:embeddedFont>
    <p:embeddedFont>
      <p:font typeface="TT Hoves Bold" charset="1" panose="02000003020000060003"/>
      <p:regular r:id="rId22"/>
    </p:embeddedFont>
    <p:embeddedFont>
      <p:font typeface="Helios Bold" charset="1" panose="020B0704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7708610" y="-412494"/>
            <a:ext cx="18562305" cy="8555165"/>
            <a:chOff x="0" y="0"/>
            <a:chExt cx="406400" cy="1873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187305"/>
            </a:xfrm>
            <a:custGeom>
              <a:avLst/>
              <a:gdLst/>
              <a:ahLst/>
              <a:cxnLst/>
              <a:rect r="r" b="b" t="t" l="l"/>
              <a:pathLst>
                <a:path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20E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144000" y="2051466"/>
            <a:ext cx="12503082" cy="10287000"/>
            <a:chOff x="0" y="0"/>
            <a:chExt cx="6184570" cy="50883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84570" cy="5088399"/>
            </a:xfrm>
            <a:custGeom>
              <a:avLst/>
              <a:gdLst/>
              <a:ahLst/>
              <a:cxnLst/>
              <a:rect r="r" b="b" t="t" l="l"/>
              <a:pathLst>
                <a:path h="5088399" w="6184570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84570" cy="5088399"/>
            </a:xfrm>
            <a:custGeom>
              <a:avLst/>
              <a:gdLst/>
              <a:ahLst/>
              <a:cxnLst/>
              <a:rect r="r" b="b" t="t" l="l"/>
              <a:pathLst>
                <a:path h="5088399" w="6184570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blipFill>
              <a:blip r:embed="rId2"/>
              <a:stretch>
                <a:fillRect l="-11745" t="0" r="-1174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006848" y="6804594"/>
            <a:ext cx="7555842" cy="3482406"/>
            <a:chOff x="0" y="0"/>
            <a:chExt cx="406400" cy="1873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187305"/>
            </a:xfrm>
            <a:custGeom>
              <a:avLst/>
              <a:gdLst/>
              <a:ahLst/>
              <a:cxnLst/>
              <a:rect r="r" b="b" t="t" l="l"/>
              <a:pathLst>
                <a:path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8223B">
                <a:alpha val="8000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1005334"/>
            <a:ext cx="4465420" cy="400944"/>
            <a:chOff x="0" y="0"/>
            <a:chExt cx="5953893" cy="534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3917" cy="534592"/>
            </a:xfrm>
            <a:custGeom>
              <a:avLst/>
              <a:gdLst/>
              <a:ahLst/>
              <a:cxnLst/>
              <a:rect r="r" b="b" t="t" l="l"/>
              <a:pathLst>
                <a:path h="534592" w="453917">
                  <a:moveTo>
                    <a:pt x="0" y="0"/>
                  </a:moveTo>
                  <a:lnTo>
                    <a:pt x="453917" y="0"/>
                  </a:lnTo>
                  <a:lnTo>
                    <a:pt x="453917" y="534592"/>
                  </a:lnTo>
                  <a:lnTo>
                    <a:pt x="0" y="534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803450" y="-38"/>
              <a:ext cx="5150443" cy="534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1"/>
                </a:lnSpc>
                <a:spcBef>
                  <a:spcPct val="0"/>
                </a:spcBef>
              </a:pPr>
              <a:r>
                <a:rPr lang="en-US" sz="2401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INSTITUTO NEBRIJA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729750" y="924818"/>
            <a:ext cx="5577175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Big Data aplicado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10356" y="1299037"/>
            <a:ext cx="11696195" cy="7607245"/>
            <a:chOff x="0" y="0"/>
            <a:chExt cx="15594927" cy="10142994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434665"/>
              <a:ext cx="15594927" cy="708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18"/>
                </a:lnSpc>
              </a:pPr>
              <a:r>
                <a:rPr lang="en-US" sz="3156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Eduardo Diego Tapia Chavez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15594927" cy="9194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609"/>
                </a:lnSpc>
              </a:pPr>
              <a:r>
                <a:rPr lang="en-US" sz="11341" b="true">
                  <a:solidFill>
                    <a:srgbClr val="E8E6E3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Juegos convencionales vs </a:t>
              </a:r>
            </a:p>
            <a:p>
              <a:pPr algn="ctr">
                <a:lnSpc>
                  <a:spcPts val="13609"/>
                </a:lnSpc>
              </a:pPr>
              <a:r>
                <a:rPr lang="en-US" sz="11341" b="true">
                  <a:solidFill>
                    <a:srgbClr val="E8E6E3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móviles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5999" y="3152878"/>
            <a:ext cx="7463019" cy="551923"/>
            <a:chOff x="0" y="0"/>
            <a:chExt cx="9950693" cy="735898"/>
          </a:xfrm>
        </p:grpSpPr>
        <p:grpSp>
          <p:nvGrpSpPr>
            <p:cNvPr name="Group 3" id="3"/>
            <p:cNvGrpSpPr/>
            <p:nvPr/>
          </p:nvGrpSpPr>
          <p:grpSpPr>
            <a:xfrm rot="-5400000">
              <a:off x="-160710" y="160710"/>
              <a:ext cx="735898" cy="414478"/>
              <a:chOff x="0" y="0"/>
              <a:chExt cx="812800" cy="45779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457791"/>
              </a:xfrm>
              <a:custGeom>
                <a:avLst/>
                <a:gdLst/>
                <a:ahLst/>
                <a:cxnLst/>
                <a:rect r="r" b="b" t="t" l="l"/>
                <a:pathLst>
                  <a:path h="457791" w="812800">
                    <a:moveTo>
                      <a:pt x="406400" y="457791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457791"/>
                    </a:lnTo>
                    <a:close/>
                  </a:path>
                </a:pathLst>
              </a:custGeom>
              <a:solidFill>
                <a:srgbClr val="E8223B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127000" y="23174"/>
                <a:ext cx="558800" cy="2220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1180404" y="-50728"/>
              <a:ext cx="8770288" cy="761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Se pagan para tenerlos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775999" y="4591577"/>
            <a:ext cx="7463019" cy="551923"/>
            <a:chOff x="0" y="0"/>
            <a:chExt cx="9950693" cy="735898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180404" y="-50728"/>
              <a:ext cx="8770288" cy="761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Se necesita un equipo especifico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-5400000">
              <a:off x="-160710" y="160710"/>
              <a:ext cx="735898" cy="414478"/>
              <a:chOff x="0" y="0"/>
              <a:chExt cx="812800" cy="45779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457791"/>
              </a:xfrm>
              <a:custGeom>
                <a:avLst/>
                <a:gdLst/>
                <a:ahLst/>
                <a:cxnLst/>
                <a:rect r="r" b="b" t="t" l="l"/>
                <a:pathLst>
                  <a:path h="457791" w="812800">
                    <a:moveTo>
                      <a:pt x="406400" y="457791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457791"/>
                    </a:lnTo>
                    <a:close/>
                  </a:path>
                </a:pathLst>
              </a:custGeom>
              <a:solidFill>
                <a:srgbClr val="E8223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27000" y="23174"/>
                <a:ext cx="558800" cy="2220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3814230" y="9258300"/>
            <a:ext cx="5765006" cy="1028700"/>
            <a:chOff x="0" y="0"/>
            <a:chExt cx="7686674" cy="13716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7686674" cy="1371600"/>
              <a:chOff x="0" y="0"/>
              <a:chExt cx="1049690" cy="18730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49690" cy="187305"/>
              </a:xfrm>
              <a:custGeom>
                <a:avLst/>
                <a:gdLst/>
                <a:ahLst/>
                <a:cxnLst/>
                <a:rect r="r" b="b" t="t" l="l"/>
                <a:pathLst>
                  <a:path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A20E20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942883" y="475615"/>
              <a:ext cx="2698286" cy="39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Big Data Aplicado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27918" y="1875709"/>
            <a:ext cx="6636502" cy="7047240"/>
          </a:xfrm>
          <a:custGeom>
            <a:avLst/>
            <a:gdLst/>
            <a:ahLst/>
            <a:cxnLst/>
            <a:rect r="r" b="b" t="t" l="l"/>
            <a:pathLst>
              <a:path h="7047240" w="6636502">
                <a:moveTo>
                  <a:pt x="0" y="0"/>
                </a:moveTo>
                <a:lnTo>
                  <a:pt x="6636502" y="0"/>
                </a:lnTo>
                <a:lnTo>
                  <a:pt x="6636502" y="7047240"/>
                </a:lnTo>
                <a:lnTo>
                  <a:pt x="0" y="7047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608" t="-1863" r="-4090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385762"/>
            <a:ext cx="16559369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b="true">
                <a:solidFill>
                  <a:srgbClr val="A20E20"/>
                </a:solidFill>
                <a:latin typeface="TT Hoves Bold"/>
                <a:ea typeface="TT Hoves Bold"/>
                <a:cs typeface="TT Hoves Bold"/>
                <a:sym typeface="TT Hoves Bold"/>
              </a:rPr>
              <a:t>Videojuegos convencionales 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775999" y="6029325"/>
            <a:ext cx="7463019" cy="551923"/>
            <a:chOff x="0" y="0"/>
            <a:chExt cx="9950693" cy="735898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1180404" y="-50728"/>
              <a:ext cx="8770288" cy="761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Se puede jugar ofline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-5400000">
              <a:off x="-160710" y="160710"/>
              <a:ext cx="735898" cy="414478"/>
              <a:chOff x="0" y="0"/>
              <a:chExt cx="812800" cy="45779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457791"/>
              </a:xfrm>
              <a:custGeom>
                <a:avLst/>
                <a:gdLst/>
                <a:ahLst/>
                <a:cxnLst/>
                <a:rect r="r" b="b" t="t" l="l"/>
                <a:pathLst>
                  <a:path h="457791" w="812800">
                    <a:moveTo>
                      <a:pt x="406400" y="457791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457791"/>
                    </a:lnTo>
                    <a:close/>
                  </a:path>
                </a:pathLst>
              </a:custGeom>
              <a:solidFill>
                <a:srgbClr val="E8223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27000" y="23174"/>
                <a:ext cx="558800" cy="2220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5999" y="3152878"/>
            <a:ext cx="7463019" cy="551923"/>
            <a:chOff x="0" y="0"/>
            <a:chExt cx="9950693" cy="735898"/>
          </a:xfrm>
        </p:grpSpPr>
        <p:grpSp>
          <p:nvGrpSpPr>
            <p:cNvPr name="Group 3" id="3"/>
            <p:cNvGrpSpPr/>
            <p:nvPr/>
          </p:nvGrpSpPr>
          <p:grpSpPr>
            <a:xfrm rot="-5400000">
              <a:off x="-160710" y="160710"/>
              <a:ext cx="735898" cy="414478"/>
              <a:chOff x="0" y="0"/>
              <a:chExt cx="812800" cy="45779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457791"/>
              </a:xfrm>
              <a:custGeom>
                <a:avLst/>
                <a:gdLst/>
                <a:ahLst/>
                <a:cxnLst/>
                <a:rect r="r" b="b" t="t" l="l"/>
                <a:pathLst>
                  <a:path h="457791" w="812800">
                    <a:moveTo>
                      <a:pt x="406400" y="457791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457791"/>
                    </a:lnTo>
                    <a:close/>
                  </a:path>
                </a:pathLst>
              </a:custGeom>
              <a:solidFill>
                <a:srgbClr val="E8223B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127000" y="23174"/>
                <a:ext cx="558800" cy="2220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1180404" y="-50728"/>
              <a:ext cx="8770288" cy="761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Descarga “gratuita”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775999" y="4591577"/>
            <a:ext cx="7463019" cy="551923"/>
            <a:chOff x="0" y="0"/>
            <a:chExt cx="9950693" cy="735898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180404" y="-50728"/>
              <a:ext cx="8770288" cy="761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Cualquier móvil gama media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-5400000">
              <a:off x="-160710" y="160710"/>
              <a:ext cx="735898" cy="414478"/>
              <a:chOff x="0" y="0"/>
              <a:chExt cx="812800" cy="45779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457791"/>
              </a:xfrm>
              <a:custGeom>
                <a:avLst/>
                <a:gdLst/>
                <a:ahLst/>
                <a:cxnLst/>
                <a:rect r="r" b="b" t="t" l="l"/>
                <a:pathLst>
                  <a:path h="457791" w="812800">
                    <a:moveTo>
                      <a:pt x="406400" y="457791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457791"/>
                    </a:lnTo>
                    <a:close/>
                  </a:path>
                </a:pathLst>
              </a:custGeom>
              <a:solidFill>
                <a:srgbClr val="E8223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27000" y="23174"/>
                <a:ext cx="558800" cy="2220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3814230" y="9258300"/>
            <a:ext cx="5765006" cy="1028700"/>
            <a:chOff x="0" y="0"/>
            <a:chExt cx="7686674" cy="13716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7686674" cy="1371600"/>
              <a:chOff x="0" y="0"/>
              <a:chExt cx="1049690" cy="18730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49690" cy="187305"/>
              </a:xfrm>
              <a:custGeom>
                <a:avLst/>
                <a:gdLst/>
                <a:ahLst/>
                <a:cxnLst/>
                <a:rect r="r" b="b" t="t" l="l"/>
                <a:pathLst>
                  <a:path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A20E20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942883" y="475615"/>
              <a:ext cx="2698286" cy="39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Big Data Aplicado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75999" y="6029325"/>
            <a:ext cx="7463019" cy="551923"/>
            <a:chOff x="0" y="0"/>
            <a:chExt cx="9950693" cy="735898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1180404" y="-50728"/>
              <a:ext cx="8770288" cy="761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Necesario el online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-5400000">
              <a:off x="-160710" y="160710"/>
              <a:ext cx="735898" cy="414478"/>
              <a:chOff x="0" y="0"/>
              <a:chExt cx="812800" cy="45779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457791"/>
              </a:xfrm>
              <a:custGeom>
                <a:avLst/>
                <a:gdLst/>
                <a:ahLst/>
                <a:cxnLst/>
                <a:rect r="r" b="b" t="t" l="l"/>
                <a:pathLst>
                  <a:path h="457791" w="812800">
                    <a:moveTo>
                      <a:pt x="406400" y="457791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457791"/>
                    </a:lnTo>
                    <a:close/>
                  </a:path>
                </a:pathLst>
              </a:custGeom>
              <a:solidFill>
                <a:srgbClr val="E8223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27000" y="23174"/>
                <a:ext cx="558800" cy="2220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9"/>
                  </a:lnSpc>
                </a:pPr>
              </a:p>
            </p:txBody>
          </p:sp>
        </p:grpSp>
      </p:grpSp>
      <p:sp>
        <p:nvSpPr>
          <p:cNvPr name="Freeform 22" id="22"/>
          <p:cNvSpPr/>
          <p:nvPr/>
        </p:nvSpPr>
        <p:spPr>
          <a:xfrm flipH="false" flipV="false" rot="0">
            <a:off x="1028700" y="2181769"/>
            <a:ext cx="6039773" cy="7076531"/>
          </a:xfrm>
          <a:custGeom>
            <a:avLst/>
            <a:gdLst/>
            <a:ahLst/>
            <a:cxnLst/>
            <a:rect r="r" b="b" t="t" l="l"/>
            <a:pathLst>
              <a:path h="7076531" w="6039773">
                <a:moveTo>
                  <a:pt x="0" y="0"/>
                </a:moveTo>
                <a:lnTo>
                  <a:pt x="6039773" y="0"/>
                </a:lnTo>
                <a:lnTo>
                  <a:pt x="6039773" y="7076531"/>
                </a:lnTo>
                <a:lnTo>
                  <a:pt x="0" y="7076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052" t="0" r="-57875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333225" y="256459"/>
            <a:ext cx="11089594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b="true">
                <a:solidFill>
                  <a:srgbClr val="A20E20"/>
                </a:solidFill>
                <a:latin typeface="TT Hoves Bold"/>
                <a:ea typeface="TT Hoves Bold"/>
                <a:cs typeface="TT Hoves Bold"/>
                <a:sym typeface="TT Hoves Bold"/>
              </a:rPr>
              <a:t>Videojuegos móviles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324259" y="-2727870"/>
            <a:ext cx="21853498" cy="5455740"/>
            <a:chOff x="0" y="0"/>
            <a:chExt cx="1012092" cy="252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2092" cy="252670"/>
            </a:xfrm>
            <a:custGeom>
              <a:avLst/>
              <a:gdLst/>
              <a:ahLst/>
              <a:cxnLst/>
              <a:rect r="r" b="b" t="t" l="l"/>
              <a:pathLst>
                <a:path h="252670" w="1012092">
                  <a:moveTo>
                    <a:pt x="203200" y="0"/>
                  </a:moveTo>
                  <a:lnTo>
                    <a:pt x="808892" y="0"/>
                  </a:lnTo>
                  <a:lnTo>
                    <a:pt x="1012092" y="252670"/>
                  </a:lnTo>
                  <a:lnTo>
                    <a:pt x="0" y="25267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8223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38100"/>
              <a:ext cx="758092" cy="2907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-6258005" y="-88241"/>
            <a:ext cx="15118279" cy="3185392"/>
            <a:chOff x="0" y="0"/>
            <a:chExt cx="1216146" cy="2562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6146" cy="256240"/>
            </a:xfrm>
            <a:custGeom>
              <a:avLst/>
              <a:gdLst/>
              <a:ahLst/>
              <a:cxnLst/>
              <a:rect r="r" b="b" t="t" l="l"/>
              <a:pathLst>
                <a:path h="256240" w="1216146">
                  <a:moveTo>
                    <a:pt x="203200" y="0"/>
                  </a:moveTo>
                  <a:lnTo>
                    <a:pt x="1012946" y="0"/>
                  </a:lnTo>
                  <a:lnTo>
                    <a:pt x="1216146" y="256240"/>
                  </a:lnTo>
                  <a:lnTo>
                    <a:pt x="0" y="2562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A20E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38100"/>
              <a:ext cx="962146" cy="294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3697226"/>
            <a:ext cx="5070039" cy="5071653"/>
            <a:chOff x="0" y="0"/>
            <a:chExt cx="1335319" cy="13357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5319" cy="1335744"/>
            </a:xfrm>
            <a:custGeom>
              <a:avLst/>
              <a:gdLst/>
              <a:ahLst/>
              <a:cxnLst/>
              <a:rect r="r" b="b" t="t" l="l"/>
              <a:pathLst>
                <a:path h="1335744" w="1335319">
                  <a:moveTo>
                    <a:pt x="0" y="0"/>
                  </a:moveTo>
                  <a:lnTo>
                    <a:pt x="1335319" y="0"/>
                  </a:lnTo>
                  <a:lnTo>
                    <a:pt x="1335319" y="1335744"/>
                  </a:lnTo>
                  <a:lnTo>
                    <a:pt x="0" y="1335744"/>
                  </a:lnTo>
                  <a:close/>
                </a:path>
              </a:pathLst>
            </a:custGeom>
            <a:solidFill>
              <a:srgbClr val="E4E4E4"/>
            </a:solidFill>
            <a:ln w="9525" cap="sq">
              <a:solidFill>
                <a:srgbClr val="2A2E3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35319" cy="1373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08980" y="3697226"/>
            <a:ext cx="5070039" cy="5071653"/>
            <a:chOff x="0" y="0"/>
            <a:chExt cx="1335319" cy="13357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5319" cy="1335744"/>
            </a:xfrm>
            <a:custGeom>
              <a:avLst/>
              <a:gdLst/>
              <a:ahLst/>
              <a:cxnLst/>
              <a:rect r="r" b="b" t="t" l="l"/>
              <a:pathLst>
                <a:path h="1335744" w="1335319">
                  <a:moveTo>
                    <a:pt x="0" y="0"/>
                  </a:moveTo>
                  <a:lnTo>
                    <a:pt x="1335319" y="0"/>
                  </a:lnTo>
                  <a:lnTo>
                    <a:pt x="1335319" y="1335744"/>
                  </a:lnTo>
                  <a:lnTo>
                    <a:pt x="0" y="1335744"/>
                  </a:lnTo>
                  <a:close/>
                </a:path>
              </a:pathLst>
            </a:custGeom>
            <a:solidFill>
              <a:srgbClr val="E4E4E4"/>
            </a:solidFill>
            <a:ln w="9525" cap="sq">
              <a:solidFill>
                <a:srgbClr val="2A2E3A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35319" cy="1373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482731" y="5019078"/>
            <a:ext cx="1322538" cy="838159"/>
          </a:xfrm>
          <a:custGeom>
            <a:avLst/>
            <a:gdLst/>
            <a:ahLst/>
            <a:cxnLst/>
            <a:rect r="r" b="b" t="t" l="l"/>
            <a:pathLst>
              <a:path h="838159" w="1322538">
                <a:moveTo>
                  <a:pt x="0" y="0"/>
                </a:moveTo>
                <a:lnTo>
                  <a:pt x="1322538" y="0"/>
                </a:lnTo>
                <a:lnTo>
                  <a:pt x="1322538" y="838159"/>
                </a:lnTo>
                <a:lnTo>
                  <a:pt x="0" y="8381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189261" y="3697226"/>
            <a:ext cx="5070039" cy="5071653"/>
            <a:chOff x="0" y="0"/>
            <a:chExt cx="1335319" cy="13357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35319" cy="1335744"/>
            </a:xfrm>
            <a:custGeom>
              <a:avLst/>
              <a:gdLst/>
              <a:ahLst/>
              <a:cxnLst/>
              <a:rect r="r" b="b" t="t" l="l"/>
              <a:pathLst>
                <a:path h="1335744" w="1335319">
                  <a:moveTo>
                    <a:pt x="0" y="0"/>
                  </a:moveTo>
                  <a:lnTo>
                    <a:pt x="1335319" y="0"/>
                  </a:lnTo>
                  <a:lnTo>
                    <a:pt x="1335319" y="1335744"/>
                  </a:lnTo>
                  <a:lnTo>
                    <a:pt x="0" y="1335744"/>
                  </a:lnTo>
                  <a:close/>
                </a:path>
              </a:pathLst>
            </a:custGeom>
            <a:solidFill>
              <a:srgbClr val="E4E4E4"/>
            </a:solidFill>
            <a:ln w="9525" cap="sq">
              <a:solidFill>
                <a:srgbClr val="2A2E3A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35319" cy="1373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957534" y="4798108"/>
            <a:ext cx="1241333" cy="1199685"/>
            <a:chOff x="0" y="0"/>
            <a:chExt cx="841017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1017" cy="812800"/>
            </a:xfrm>
            <a:custGeom>
              <a:avLst/>
              <a:gdLst/>
              <a:ahLst/>
              <a:cxnLst/>
              <a:rect r="r" b="b" t="t" l="l"/>
              <a:pathLst>
                <a:path h="812800" w="841017">
                  <a:moveTo>
                    <a:pt x="420508" y="0"/>
                  </a:moveTo>
                  <a:cubicBezTo>
                    <a:pt x="188268" y="0"/>
                    <a:pt x="0" y="181951"/>
                    <a:pt x="0" y="406400"/>
                  </a:cubicBezTo>
                  <a:cubicBezTo>
                    <a:pt x="0" y="630849"/>
                    <a:pt x="188268" y="812800"/>
                    <a:pt x="420508" y="812800"/>
                  </a:cubicBezTo>
                  <a:cubicBezTo>
                    <a:pt x="652749" y="812800"/>
                    <a:pt x="841017" y="630849"/>
                    <a:pt x="841017" y="406400"/>
                  </a:cubicBezTo>
                  <a:cubicBezTo>
                    <a:pt x="841017" y="181951"/>
                    <a:pt x="652749" y="0"/>
                    <a:pt x="420508" y="0"/>
                  </a:cubicBezTo>
                  <a:close/>
                </a:path>
              </a:pathLst>
            </a:custGeom>
            <a:solidFill>
              <a:srgbClr val="E8223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8845" y="38100"/>
              <a:ext cx="68332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814230" y="9258300"/>
            <a:ext cx="5765006" cy="1028700"/>
            <a:chOff x="0" y="0"/>
            <a:chExt cx="7686674" cy="13716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7686674" cy="1371600"/>
              <a:chOff x="0" y="0"/>
              <a:chExt cx="1049690" cy="18730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49690" cy="187305"/>
              </a:xfrm>
              <a:custGeom>
                <a:avLst/>
                <a:gdLst/>
                <a:ahLst/>
                <a:cxnLst/>
                <a:rect r="r" b="b" t="t" l="l"/>
                <a:pathLst>
                  <a:path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A20E20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942883" y="475615"/>
              <a:ext cx="2698286" cy="39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Big Data Aplicado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085434" y="4905184"/>
            <a:ext cx="985532" cy="985532"/>
          </a:xfrm>
          <a:custGeom>
            <a:avLst/>
            <a:gdLst/>
            <a:ahLst/>
            <a:cxnLst/>
            <a:rect r="r" b="b" t="t" l="l"/>
            <a:pathLst>
              <a:path h="985532" w="985532">
                <a:moveTo>
                  <a:pt x="0" y="0"/>
                </a:moveTo>
                <a:lnTo>
                  <a:pt x="985533" y="0"/>
                </a:lnTo>
                <a:lnTo>
                  <a:pt x="985533" y="985532"/>
                </a:lnTo>
                <a:lnTo>
                  <a:pt x="0" y="9855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168155" y="4798108"/>
            <a:ext cx="1112251" cy="1280099"/>
          </a:xfrm>
          <a:custGeom>
            <a:avLst/>
            <a:gdLst/>
            <a:ahLst/>
            <a:cxnLst/>
            <a:rect r="r" b="b" t="t" l="l"/>
            <a:pathLst>
              <a:path h="1280099" w="1112251">
                <a:moveTo>
                  <a:pt x="0" y="0"/>
                </a:moveTo>
                <a:lnTo>
                  <a:pt x="1112251" y="0"/>
                </a:lnTo>
                <a:lnTo>
                  <a:pt x="1112251" y="1280099"/>
                </a:lnTo>
                <a:lnTo>
                  <a:pt x="0" y="12800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427" t="-26359" r="-39672" b="-28387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57662" y="882901"/>
            <a:ext cx="6211801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Metas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57662" y="6521154"/>
            <a:ext cx="5041078" cy="2089243"/>
            <a:chOff x="0" y="0"/>
            <a:chExt cx="6721437" cy="2785657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9525"/>
              <a:ext cx="6721437" cy="2097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07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¿Cuál renta mas para emprender en la industria?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2250987"/>
              <a:ext cx="6721437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608980" y="6511629"/>
            <a:ext cx="5070039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79"/>
              </a:lnSpc>
              <a:spcBef>
                <a:spcPct val="0"/>
              </a:spcBef>
            </a:pPr>
            <a:r>
              <a:rPr lang="en-US" b="true" sz="3399">
                <a:solidFill>
                  <a:srgbClr val="2A2E3A"/>
                </a:solidFill>
                <a:latin typeface="Helios Bold"/>
                <a:ea typeface="Helios Bold"/>
                <a:cs typeface="Helios Bold"/>
                <a:sym typeface="Helios Bold"/>
              </a:rPr>
              <a:t>¿Qué tipo de juegos son los mas exitosos?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820781" y="6521154"/>
            <a:ext cx="3806998" cy="1045303"/>
            <a:chOff x="0" y="0"/>
            <a:chExt cx="5075997" cy="1393737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-9525"/>
              <a:ext cx="5075997" cy="7054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079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Ética y moral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859067"/>
              <a:ext cx="5075997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743843" y="1106739"/>
            <a:ext cx="6332551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Objetivo del EDA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2671221" y="-1798417"/>
            <a:ext cx="18526628" cy="3984902"/>
            <a:chOff x="0" y="0"/>
            <a:chExt cx="1610883" cy="346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0883" cy="346486"/>
            </a:xfrm>
            <a:custGeom>
              <a:avLst/>
              <a:gdLst/>
              <a:ahLst/>
              <a:cxnLst/>
              <a:rect r="r" b="b" t="t" l="l"/>
              <a:pathLst>
                <a:path h="346486" w="1610883">
                  <a:moveTo>
                    <a:pt x="203200" y="0"/>
                  </a:moveTo>
                  <a:lnTo>
                    <a:pt x="1407683" y="0"/>
                  </a:lnTo>
                  <a:lnTo>
                    <a:pt x="1610883" y="346486"/>
                  </a:lnTo>
                  <a:lnTo>
                    <a:pt x="0" y="346486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38100"/>
              <a:ext cx="1356883" cy="384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14230" y="9258300"/>
            <a:ext cx="5765006" cy="1028700"/>
            <a:chOff x="0" y="0"/>
            <a:chExt cx="7686674" cy="13716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686674" cy="1371600"/>
              <a:chOff x="0" y="0"/>
              <a:chExt cx="1049690" cy="1873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49690" cy="187305"/>
              </a:xfrm>
              <a:custGeom>
                <a:avLst/>
                <a:gdLst/>
                <a:ahLst/>
                <a:cxnLst/>
                <a:rect r="r" b="b" t="t" l="l"/>
                <a:pathLst>
                  <a:path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A20E2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942883" y="475615"/>
              <a:ext cx="2698286" cy="39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Big Data Aplicado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447846" y="2376007"/>
            <a:ext cx="5243648" cy="959358"/>
            <a:chOff x="0" y="0"/>
            <a:chExt cx="7773400" cy="14221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73400" cy="1422192"/>
            </a:xfrm>
            <a:custGeom>
              <a:avLst/>
              <a:gdLst/>
              <a:ahLst/>
              <a:cxnLst/>
              <a:rect r="r" b="b" t="t" l="l"/>
              <a:pathLst>
                <a:path h="1422192" w="7773400">
                  <a:moveTo>
                    <a:pt x="44293" y="0"/>
                  </a:moveTo>
                  <a:lnTo>
                    <a:pt x="7729107" y="0"/>
                  </a:lnTo>
                  <a:cubicBezTo>
                    <a:pt x="7753569" y="0"/>
                    <a:pt x="7773400" y="19831"/>
                    <a:pt x="7773400" y="44293"/>
                  </a:cubicBezTo>
                  <a:lnTo>
                    <a:pt x="7773400" y="1377899"/>
                  </a:lnTo>
                  <a:cubicBezTo>
                    <a:pt x="7773400" y="1402361"/>
                    <a:pt x="7753569" y="1422192"/>
                    <a:pt x="7729107" y="1422192"/>
                  </a:cubicBezTo>
                  <a:lnTo>
                    <a:pt x="44293" y="1422192"/>
                  </a:lnTo>
                  <a:cubicBezTo>
                    <a:pt x="19831" y="1422192"/>
                    <a:pt x="0" y="1402361"/>
                    <a:pt x="0" y="1377899"/>
                  </a:cubicBezTo>
                  <a:lnTo>
                    <a:pt x="0" y="44293"/>
                  </a:lnTo>
                  <a:cubicBezTo>
                    <a:pt x="0" y="19831"/>
                    <a:pt x="19831" y="0"/>
                    <a:pt x="44293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A2E3A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773400" cy="146029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100"/>
                </a:lnSpc>
              </a:pPr>
              <a:r>
                <a:rPr lang="en-US" sz="1500" b="true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Datasets en crudo sacados directamente de kaggle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34119" y="3524887"/>
            <a:ext cx="12241300" cy="2543515"/>
          </a:xfrm>
          <a:custGeom>
            <a:avLst/>
            <a:gdLst/>
            <a:ahLst/>
            <a:cxnLst/>
            <a:rect r="r" b="b" t="t" l="l"/>
            <a:pathLst>
              <a:path h="2543515" w="12241300">
                <a:moveTo>
                  <a:pt x="0" y="0"/>
                </a:moveTo>
                <a:lnTo>
                  <a:pt x="12241300" y="0"/>
                </a:lnTo>
                <a:lnTo>
                  <a:pt x="12241300" y="2543515"/>
                </a:lnTo>
                <a:lnTo>
                  <a:pt x="0" y="2543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42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34119" y="6986997"/>
            <a:ext cx="11772094" cy="2785653"/>
          </a:xfrm>
          <a:custGeom>
            <a:avLst/>
            <a:gdLst/>
            <a:ahLst/>
            <a:cxnLst/>
            <a:rect r="r" b="b" t="t" l="l"/>
            <a:pathLst>
              <a:path h="2785653" w="11772094">
                <a:moveTo>
                  <a:pt x="0" y="0"/>
                </a:moveTo>
                <a:lnTo>
                  <a:pt x="11772094" y="0"/>
                </a:lnTo>
                <a:lnTo>
                  <a:pt x="11772094" y="2785653"/>
                </a:lnTo>
                <a:lnTo>
                  <a:pt x="0" y="27856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75" r="0" b="-975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59510" y="194034"/>
            <a:ext cx="11620195" cy="2006657"/>
            <a:chOff x="0" y="0"/>
            <a:chExt cx="15493593" cy="267554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15493593" cy="171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199"/>
                </a:lnSpc>
              </a:pPr>
              <a:r>
                <a:rPr lang="en-US" sz="8499" b="true">
                  <a:solidFill>
                    <a:srgbClr val="A20E2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Datasets base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914389"/>
              <a:ext cx="15493593" cy="761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657961" y="2639967"/>
            <a:ext cx="5124411" cy="884919"/>
            <a:chOff x="0" y="0"/>
            <a:chExt cx="6832548" cy="117989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0"/>
              <a:ext cx="6832548" cy="75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98"/>
                </a:lnSpc>
              </a:pPr>
              <a:r>
                <a:rPr lang="en-US" sz="3748" b="true">
                  <a:solidFill>
                    <a:srgbClr val="A20E2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Dataset móviles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849259"/>
              <a:ext cx="6832548" cy="330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657961" y="6207506"/>
            <a:ext cx="6304438" cy="884919"/>
            <a:chOff x="0" y="0"/>
            <a:chExt cx="8405918" cy="117989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0"/>
              <a:ext cx="8405918" cy="75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98"/>
                </a:lnSpc>
              </a:pPr>
              <a:r>
                <a:rPr lang="en-US" sz="3748" b="true">
                  <a:solidFill>
                    <a:srgbClr val="A20E2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Dataset convencionales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849259"/>
              <a:ext cx="8405918" cy="330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9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173"/>
            <a:ext cx="15096880" cy="1999055"/>
            <a:chOff x="0" y="0"/>
            <a:chExt cx="20129173" cy="266540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20129173" cy="171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199"/>
                </a:lnSpc>
              </a:pPr>
              <a:r>
                <a:rPr lang="en-US" sz="8499" b="true">
                  <a:solidFill>
                    <a:srgbClr val="A20E2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Videojuegos Convencionales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04252"/>
              <a:ext cx="20129173" cy="761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Filtrado de los 100 juegos con mas ganancias ordenado por fecha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927864" y="3291595"/>
            <a:ext cx="4360136" cy="3297747"/>
            <a:chOff x="0" y="0"/>
            <a:chExt cx="5813514" cy="439699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506224"/>
              <a:ext cx="5813514" cy="45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62"/>
                </a:lnSpc>
                <a:spcBef>
                  <a:spcPct val="0"/>
                </a:spcBef>
              </a:pPr>
              <a:r>
                <a:rPr lang="en-US" b="true" sz="2218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4.137</a:t>
              </a:r>
              <a:r>
                <a:rPr lang="en-US" b="true" sz="2218" u="none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$ Billones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28575"/>
              <a:ext cx="5813514" cy="340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92"/>
                </a:lnSpc>
              </a:pPr>
              <a:r>
                <a:rPr lang="en-US" sz="1566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Ganancia máxima: Wii Sports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0" y="1248183"/>
              <a:ext cx="5649257" cy="0"/>
            </a:xfrm>
            <a:prstGeom prst="line">
              <a:avLst/>
            </a:prstGeom>
            <a:ln cap="flat" w="8288">
              <a:solidFill>
                <a:srgbClr val="2A2E3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2784131"/>
              <a:ext cx="5649257" cy="0"/>
            </a:xfrm>
            <a:prstGeom prst="line">
              <a:avLst/>
            </a:prstGeom>
            <a:ln cap="flat" w="8288">
              <a:solidFill>
                <a:srgbClr val="2A2E3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2042172"/>
              <a:ext cx="5813514" cy="45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62"/>
                </a:lnSpc>
                <a:spcBef>
                  <a:spcPct val="0"/>
                </a:spcBef>
              </a:pPr>
              <a:r>
                <a:rPr lang="en-US" b="true" sz="2218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741.375.000$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507372"/>
              <a:ext cx="5813514" cy="340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92"/>
                </a:lnSpc>
              </a:pPr>
              <a:r>
                <a:rPr lang="en-US" sz="1566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Ganancia media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942801"/>
              <a:ext cx="5813514" cy="45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62"/>
                </a:lnSpc>
                <a:spcBef>
                  <a:spcPct val="0"/>
                </a:spcBef>
              </a:pPr>
              <a:r>
                <a:rPr lang="en-US" b="true" sz="2218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365.500.000$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3043320"/>
              <a:ext cx="5813514" cy="704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92"/>
                </a:lnSpc>
              </a:pPr>
              <a:r>
                <a:rPr lang="en-US" sz="1566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Ganancia mínima</a:t>
              </a:r>
              <a:r>
                <a:rPr lang="en-US" sz="1566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: The Legend of Zelda: Twilight Princess (Wii)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287623" y="9258300"/>
            <a:ext cx="5765006" cy="1028700"/>
            <a:chOff x="0" y="0"/>
            <a:chExt cx="7686674" cy="13716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7686674" cy="1371600"/>
              <a:chOff x="0" y="0"/>
              <a:chExt cx="1049690" cy="18730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49690" cy="187305"/>
              </a:xfrm>
              <a:custGeom>
                <a:avLst/>
                <a:gdLst/>
                <a:ahLst/>
                <a:cxnLst/>
                <a:rect r="r" b="b" t="t" l="l"/>
                <a:pathLst>
                  <a:path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A20E2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033168" y="475615"/>
              <a:ext cx="2698286" cy="39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Back to Agenda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-10800000">
            <a:off x="14447117" y="-741521"/>
            <a:ext cx="7681766" cy="3540443"/>
            <a:chOff x="0" y="0"/>
            <a:chExt cx="406400" cy="18730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6400" cy="187305"/>
            </a:xfrm>
            <a:custGeom>
              <a:avLst/>
              <a:gdLst/>
              <a:ahLst/>
              <a:cxnLst/>
              <a:rect r="r" b="b" t="t" l="l"/>
              <a:pathLst>
                <a:path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8223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0" y="2346438"/>
            <a:ext cx="13927864" cy="6894293"/>
          </a:xfrm>
          <a:custGeom>
            <a:avLst/>
            <a:gdLst/>
            <a:ahLst/>
            <a:cxnLst/>
            <a:rect r="r" b="b" t="t" l="l"/>
            <a:pathLst>
              <a:path h="6894293" w="13927864">
                <a:moveTo>
                  <a:pt x="0" y="0"/>
                </a:moveTo>
                <a:lnTo>
                  <a:pt x="13927864" y="0"/>
                </a:lnTo>
                <a:lnTo>
                  <a:pt x="13927864" y="6894293"/>
                </a:lnTo>
                <a:lnTo>
                  <a:pt x="0" y="6894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173"/>
            <a:ext cx="15096880" cy="1999055"/>
            <a:chOff x="0" y="0"/>
            <a:chExt cx="20129173" cy="266540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20129173" cy="171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199"/>
                </a:lnSpc>
              </a:pPr>
              <a:r>
                <a:rPr lang="en-US" sz="8499" b="true">
                  <a:solidFill>
                    <a:srgbClr val="A20E2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Videojuegos Convencionales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04252"/>
              <a:ext cx="20129173" cy="761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Filtrado de los 100 juegos con mas ganancias ordenados por ganancia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287623" y="9258300"/>
            <a:ext cx="5765006" cy="1028700"/>
            <a:chOff x="0" y="0"/>
            <a:chExt cx="7686674" cy="13716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686674" cy="1371600"/>
              <a:chOff x="0" y="0"/>
              <a:chExt cx="1049690" cy="1873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49690" cy="187305"/>
              </a:xfrm>
              <a:custGeom>
                <a:avLst/>
                <a:gdLst/>
                <a:ahLst/>
                <a:cxnLst/>
                <a:rect r="r" b="b" t="t" l="l"/>
                <a:pathLst>
                  <a:path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A20E2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033168" y="475615"/>
              <a:ext cx="2698286" cy="39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Back to Agenda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-10800000">
            <a:off x="14447117" y="-741521"/>
            <a:ext cx="7681766" cy="3540443"/>
            <a:chOff x="0" y="0"/>
            <a:chExt cx="406400" cy="1873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187305"/>
            </a:xfrm>
            <a:custGeom>
              <a:avLst/>
              <a:gdLst/>
              <a:ahLst/>
              <a:cxnLst/>
              <a:rect r="r" b="b" t="t" l="l"/>
              <a:pathLst>
                <a:path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8223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796399" y="6780993"/>
            <a:ext cx="8491601" cy="3506007"/>
          </a:xfrm>
          <a:custGeom>
            <a:avLst/>
            <a:gdLst/>
            <a:ahLst/>
            <a:cxnLst/>
            <a:rect r="r" b="b" t="t" l="l"/>
            <a:pathLst>
              <a:path h="3506007" w="8491601">
                <a:moveTo>
                  <a:pt x="0" y="0"/>
                </a:moveTo>
                <a:lnTo>
                  <a:pt x="8491601" y="0"/>
                </a:lnTo>
                <a:lnTo>
                  <a:pt x="8491601" y="3506007"/>
                </a:lnTo>
                <a:lnTo>
                  <a:pt x="0" y="35060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61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227187" y="2028227"/>
            <a:ext cx="10254859" cy="5063337"/>
          </a:xfrm>
          <a:custGeom>
            <a:avLst/>
            <a:gdLst/>
            <a:ahLst/>
            <a:cxnLst/>
            <a:rect r="r" b="b" t="t" l="l"/>
            <a:pathLst>
              <a:path h="5063337" w="10254859">
                <a:moveTo>
                  <a:pt x="0" y="0"/>
                </a:moveTo>
                <a:lnTo>
                  <a:pt x="10254859" y="0"/>
                </a:lnTo>
                <a:lnTo>
                  <a:pt x="10254859" y="5063337"/>
                </a:lnTo>
                <a:lnTo>
                  <a:pt x="0" y="5063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173"/>
            <a:ext cx="15096880" cy="1999055"/>
            <a:chOff x="0" y="0"/>
            <a:chExt cx="20129173" cy="266540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20129173" cy="171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199"/>
                </a:lnSpc>
              </a:pPr>
              <a:r>
                <a:rPr lang="en-US" sz="8499" b="true">
                  <a:solidFill>
                    <a:srgbClr val="A20E2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Videojuegos Móviles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04252"/>
              <a:ext cx="20129173" cy="761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Filtrado de los 100 juegos con mas ganancias ordenado por fecha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927864" y="3428351"/>
            <a:ext cx="4360136" cy="3024236"/>
            <a:chOff x="0" y="0"/>
            <a:chExt cx="5813514" cy="403231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506224"/>
              <a:ext cx="5813514" cy="45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62"/>
                </a:lnSpc>
                <a:spcBef>
                  <a:spcPct val="0"/>
                </a:spcBef>
              </a:pPr>
              <a:r>
                <a:rPr lang="en-US" b="true" sz="2218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14.66</a:t>
              </a:r>
              <a:r>
                <a:rPr lang="en-US" b="true" sz="2218" u="none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$ Billones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28575"/>
              <a:ext cx="5813514" cy="340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92"/>
                </a:lnSpc>
              </a:pPr>
              <a:r>
                <a:rPr lang="en-US" sz="1566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Ganancia máxima: Honor of Kings</a:t>
              </a:r>
            </a:p>
          </p:txBody>
        </p:sp>
        <p:sp>
          <p:nvSpPr>
            <p:cNvPr name="AutoShape 8" id="8"/>
            <p:cNvSpPr/>
            <p:nvPr/>
          </p:nvSpPr>
          <p:spPr>
            <a:xfrm>
              <a:off x="0" y="1248183"/>
              <a:ext cx="5649257" cy="0"/>
            </a:xfrm>
            <a:prstGeom prst="line">
              <a:avLst/>
            </a:prstGeom>
            <a:ln cap="flat" w="8288">
              <a:solidFill>
                <a:srgbClr val="2A2E3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2784131"/>
              <a:ext cx="5649257" cy="0"/>
            </a:xfrm>
            <a:prstGeom prst="line">
              <a:avLst/>
            </a:prstGeom>
            <a:ln cap="flat" w="8288">
              <a:solidFill>
                <a:srgbClr val="2A2E3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2042172"/>
              <a:ext cx="5813514" cy="45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62"/>
                </a:lnSpc>
                <a:spcBef>
                  <a:spcPct val="0"/>
                </a:spcBef>
              </a:pPr>
              <a:r>
                <a:rPr lang="en-US" b="true" sz="2218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1.617.105.000$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507372"/>
              <a:ext cx="5813514" cy="340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92"/>
                </a:lnSpc>
              </a:pPr>
              <a:r>
                <a:rPr lang="en-US" sz="1566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Ganancia media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578119"/>
              <a:ext cx="5813514" cy="45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62"/>
                </a:lnSpc>
                <a:spcBef>
                  <a:spcPct val="0"/>
                </a:spcBef>
              </a:pPr>
              <a:r>
                <a:rPr lang="en-US" b="true" sz="2218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100.000.000$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3043320"/>
              <a:ext cx="5813514" cy="340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92"/>
                </a:lnSpc>
              </a:pPr>
              <a:r>
                <a:rPr lang="en-US" sz="1566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Ganancia mínima</a:t>
              </a:r>
              <a:r>
                <a:rPr lang="en-US" sz="1566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: Mafia City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287623" y="9258300"/>
            <a:ext cx="5765006" cy="1028700"/>
            <a:chOff x="0" y="0"/>
            <a:chExt cx="7686674" cy="13716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7686674" cy="1371600"/>
              <a:chOff x="0" y="0"/>
              <a:chExt cx="1049690" cy="18730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49690" cy="187305"/>
              </a:xfrm>
              <a:custGeom>
                <a:avLst/>
                <a:gdLst/>
                <a:ahLst/>
                <a:cxnLst/>
                <a:rect r="r" b="b" t="t" l="l"/>
                <a:pathLst>
                  <a:path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A20E2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033168" y="475615"/>
              <a:ext cx="2698286" cy="39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Back to Agenda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-10800000">
            <a:off x="14447117" y="-741521"/>
            <a:ext cx="7681766" cy="3540443"/>
            <a:chOff x="0" y="0"/>
            <a:chExt cx="406400" cy="18730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6400" cy="187305"/>
            </a:xfrm>
            <a:custGeom>
              <a:avLst/>
              <a:gdLst/>
              <a:ahLst/>
              <a:cxnLst/>
              <a:rect r="r" b="b" t="t" l="l"/>
              <a:pathLst>
                <a:path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8223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0" y="2289303"/>
            <a:ext cx="13795212" cy="6707922"/>
          </a:xfrm>
          <a:custGeom>
            <a:avLst/>
            <a:gdLst/>
            <a:ahLst/>
            <a:cxnLst/>
            <a:rect r="r" b="b" t="t" l="l"/>
            <a:pathLst>
              <a:path h="6707922" w="13795212">
                <a:moveTo>
                  <a:pt x="0" y="0"/>
                </a:moveTo>
                <a:lnTo>
                  <a:pt x="13795212" y="0"/>
                </a:lnTo>
                <a:lnTo>
                  <a:pt x="13795212" y="6707921"/>
                </a:lnTo>
                <a:lnTo>
                  <a:pt x="0" y="6707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173"/>
            <a:ext cx="15096880" cy="1999055"/>
            <a:chOff x="0" y="0"/>
            <a:chExt cx="20129173" cy="266540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20129173" cy="171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199"/>
                </a:lnSpc>
              </a:pPr>
              <a:r>
                <a:rPr lang="en-US" sz="8499" b="true">
                  <a:solidFill>
                    <a:srgbClr val="A20E2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Videojuegos Móviles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04252"/>
              <a:ext cx="20129173" cy="761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Filtrado de los 100 juegos con mas ganancias ordenados por fecha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287623" y="9258300"/>
            <a:ext cx="5765006" cy="1028700"/>
            <a:chOff x="0" y="0"/>
            <a:chExt cx="7686674" cy="13716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686674" cy="1371600"/>
              <a:chOff x="0" y="0"/>
              <a:chExt cx="1049690" cy="1873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49690" cy="187305"/>
              </a:xfrm>
              <a:custGeom>
                <a:avLst/>
                <a:gdLst/>
                <a:ahLst/>
                <a:cxnLst/>
                <a:rect r="r" b="b" t="t" l="l"/>
                <a:pathLst>
                  <a:path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A20E2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033168" y="475615"/>
              <a:ext cx="2698286" cy="39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Back to Agenda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-10800000">
            <a:off x="14447117" y="-741521"/>
            <a:ext cx="7681766" cy="3540443"/>
            <a:chOff x="0" y="0"/>
            <a:chExt cx="406400" cy="1873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187305"/>
            </a:xfrm>
            <a:custGeom>
              <a:avLst/>
              <a:gdLst/>
              <a:ahLst/>
              <a:cxnLst/>
              <a:rect r="r" b="b" t="t" l="l"/>
              <a:pathLst>
                <a:path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8223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130711" y="6717432"/>
            <a:ext cx="7157289" cy="3569568"/>
          </a:xfrm>
          <a:custGeom>
            <a:avLst/>
            <a:gdLst/>
            <a:ahLst/>
            <a:cxnLst/>
            <a:rect r="r" b="b" t="t" l="l"/>
            <a:pathLst>
              <a:path h="3569568" w="7157289">
                <a:moveTo>
                  <a:pt x="0" y="0"/>
                </a:moveTo>
                <a:lnTo>
                  <a:pt x="7157289" y="0"/>
                </a:lnTo>
                <a:lnTo>
                  <a:pt x="7157289" y="3569568"/>
                </a:lnTo>
                <a:lnTo>
                  <a:pt x="0" y="3569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89" t="-8443" r="0" b="-286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699198" y="1929958"/>
            <a:ext cx="11829909" cy="5855805"/>
          </a:xfrm>
          <a:custGeom>
            <a:avLst/>
            <a:gdLst/>
            <a:ahLst/>
            <a:cxnLst/>
            <a:rect r="r" b="b" t="t" l="l"/>
            <a:pathLst>
              <a:path h="5855805" w="11829909">
                <a:moveTo>
                  <a:pt x="0" y="0"/>
                </a:moveTo>
                <a:lnTo>
                  <a:pt x="11829909" y="0"/>
                </a:lnTo>
                <a:lnTo>
                  <a:pt x="11829909" y="5855805"/>
                </a:lnTo>
                <a:lnTo>
                  <a:pt x="0" y="5855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173"/>
            <a:ext cx="13287367" cy="1726115"/>
            <a:chOff x="0" y="0"/>
            <a:chExt cx="17716490" cy="230148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7716490" cy="14804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07"/>
                </a:lnSpc>
              </a:pPr>
              <a:r>
                <a:rPr lang="en-US" sz="7339" b="true">
                  <a:solidFill>
                    <a:srgbClr val="A20E2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Comparativa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652902"/>
              <a:ext cx="17716490" cy="6485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10"/>
                </a:lnSpc>
              </a:pPr>
              <a:r>
                <a:rPr lang="en-US" sz="2935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Filtrado de los 100 juegos con mas ganancias ordenados por año comparativa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287623" y="9258300"/>
            <a:ext cx="5765006" cy="1028700"/>
            <a:chOff x="0" y="0"/>
            <a:chExt cx="7686674" cy="13716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686674" cy="1371600"/>
              <a:chOff x="0" y="0"/>
              <a:chExt cx="1049690" cy="18730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049690" cy="187305"/>
              </a:xfrm>
              <a:custGeom>
                <a:avLst/>
                <a:gdLst/>
                <a:ahLst/>
                <a:cxnLst/>
                <a:rect r="r" b="b" t="t" l="l"/>
                <a:pathLst>
                  <a:path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A20E2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033168" y="475615"/>
              <a:ext cx="2698286" cy="39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Back to Agenda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-10800000">
            <a:off x="14447117" y="-741521"/>
            <a:ext cx="7681766" cy="3540443"/>
            <a:chOff x="0" y="0"/>
            <a:chExt cx="406400" cy="1873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187305"/>
            </a:xfrm>
            <a:custGeom>
              <a:avLst/>
              <a:gdLst/>
              <a:ahLst/>
              <a:cxnLst/>
              <a:rect r="r" b="b" t="t" l="l"/>
              <a:pathLst>
                <a:path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8223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248994" y="2635867"/>
            <a:ext cx="13049129" cy="6622433"/>
          </a:xfrm>
          <a:custGeom>
            <a:avLst/>
            <a:gdLst/>
            <a:ahLst/>
            <a:cxnLst/>
            <a:rect r="r" b="b" t="t" l="l"/>
            <a:pathLst>
              <a:path h="6622433" w="13049129">
                <a:moveTo>
                  <a:pt x="0" y="0"/>
                </a:moveTo>
                <a:lnTo>
                  <a:pt x="13049128" y="0"/>
                </a:lnTo>
                <a:lnTo>
                  <a:pt x="13049128" y="6622433"/>
                </a:lnTo>
                <a:lnTo>
                  <a:pt x="0" y="6622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87623" y="9258300"/>
            <a:ext cx="5765006" cy="1028700"/>
            <a:chOff x="0" y="0"/>
            <a:chExt cx="7686674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7686674" cy="1371600"/>
              <a:chOff x="0" y="0"/>
              <a:chExt cx="1049690" cy="18730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49690" cy="187305"/>
              </a:xfrm>
              <a:custGeom>
                <a:avLst/>
                <a:gdLst/>
                <a:ahLst/>
                <a:cxnLst/>
                <a:rect r="r" b="b" t="t" l="l"/>
                <a:pathLst>
                  <a:path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A20E2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033168" y="475615"/>
              <a:ext cx="2698286" cy="39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Back to Agenda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14447117" y="-741521"/>
            <a:ext cx="7681766" cy="3540443"/>
            <a:chOff x="0" y="0"/>
            <a:chExt cx="406400" cy="1873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187305"/>
            </a:xfrm>
            <a:custGeom>
              <a:avLst/>
              <a:gdLst/>
              <a:ahLst/>
              <a:cxnLst/>
              <a:rect r="r" b="b" t="t" l="l"/>
              <a:pathLst>
                <a:path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8223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853583" y="2336571"/>
            <a:ext cx="11169566" cy="6687778"/>
          </a:xfrm>
          <a:custGeom>
            <a:avLst/>
            <a:gdLst/>
            <a:ahLst/>
            <a:cxnLst/>
            <a:rect r="r" b="b" t="t" l="l"/>
            <a:pathLst>
              <a:path h="6687778" w="11169566">
                <a:moveTo>
                  <a:pt x="0" y="0"/>
                </a:moveTo>
                <a:lnTo>
                  <a:pt x="11169566" y="0"/>
                </a:lnTo>
                <a:lnTo>
                  <a:pt x="11169566" y="6687778"/>
                </a:lnTo>
                <a:lnTo>
                  <a:pt x="0" y="6687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0" y="29173"/>
            <a:ext cx="14023149" cy="1726115"/>
            <a:chOff x="0" y="0"/>
            <a:chExt cx="18697532" cy="230148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18697532" cy="14804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07"/>
                </a:lnSpc>
              </a:pPr>
              <a:r>
                <a:rPr lang="en-US" sz="7339" b="true">
                  <a:solidFill>
                    <a:srgbClr val="A20E2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Comparativa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652902"/>
              <a:ext cx="18697532" cy="6485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10"/>
                </a:lnSpc>
              </a:pPr>
              <a:r>
                <a:rPr lang="en-US" sz="2935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Filtrado de los 100 juegos con mas ganancias ordenados por género comparativa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853991" y="3470738"/>
          <a:ext cx="11405309" cy="5698085"/>
        </p:xfrm>
        <a:graphic>
          <a:graphicData uri="http://schemas.openxmlformats.org/drawingml/2006/table">
            <a:tbl>
              <a:tblPr/>
              <a:tblGrid>
                <a:gridCol w="11405309"/>
              </a:tblGrid>
              <a:tr h="1128274"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Accesibilidad</a:t>
                      </a:r>
                      <a:endParaRPr lang="en-US" sz="1100"/>
                    </a:p>
                  </a:txBody>
                  <a:tcPr marL="211594" marR="211594" marT="211594" marB="211594" anchor="b">
                    <a:lnL cmpd="sng" algn="ctr" cap="flat" w="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7179"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Complejidad</a:t>
                      </a:r>
                      <a:endParaRPr lang="en-US" sz="1100"/>
                    </a:p>
                  </a:txBody>
                  <a:tcPr marL="211594" marR="211594" marT="211594" marB="211594" anchor="b">
                    <a:lnL cmpd="sng" algn="ctr" cap="flat" w="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7179"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Longevidad</a:t>
                      </a:r>
                      <a:endParaRPr lang="en-US" sz="1100"/>
                    </a:p>
                  </a:txBody>
                  <a:tcPr marL="211594" marR="211594" marT="211594" marB="211594" anchor="b">
                    <a:lnL cmpd="sng" algn="ctr" cap="flat" w="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7179"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Asia</a:t>
                      </a:r>
                      <a:endParaRPr lang="en-US" sz="1100"/>
                    </a:p>
                  </a:txBody>
                  <a:tcPr marL="211594" marR="211594" marT="211594" marB="211594" anchor="b">
                    <a:lnL cmpd="sng" algn="ctr" cap="flat" w="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274"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Tácticas de monetización</a:t>
                      </a:r>
                      <a:endParaRPr lang="en-US" sz="1100"/>
                    </a:p>
                  </a:txBody>
                  <a:tcPr marL="211594" marR="211594" marT="211594" marB="211594" anchor="b">
                    <a:lnL cmpd="sng" algn="ctr" cap="flat" w="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EDEC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-1287623" y="9258300"/>
            <a:ext cx="5765006" cy="1028700"/>
            <a:chOff x="0" y="0"/>
            <a:chExt cx="7686674" cy="13716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7686674" cy="1371600"/>
              <a:chOff x="0" y="0"/>
              <a:chExt cx="1049690" cy="18730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49690" cy="187305"/>
              </a:xfrm>
              <a:custGeom>
                <a:avLst/>
                <a:gdLst/>
                <a:ahLst/>
                <a:cxnLst/>
                <a:rect r="r" b="b" t="t" l="l"/>
                <a:pathLst>
                  <a:path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A20E2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033168" y="475615"/>
              <a:ext cx="2698286" cy="39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Back to Agenda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511209"/>
            <a:ext cx="5645750" cy="8657613"/>
          </a:xfrm>
          <a:custGeom>
            <a:avLst/>
            <a:gdLst/>
            <a:ahLst/>
            <a:cxnLst/>
            <a:rect r="r" b="b" t="t" l="l"/>
            <a:pathLst>
              <a:path h="8657613" w="5645750">
                <a:moveTo>
                  <a:pt x="0" y="0"/>
                </a:moveTo>
                <a:lnTo>
                  <a:pt x="5645750" y="0"/>
                </a:lnTo>
                <a:lnTo>
                  <a:pt x="5645750" y="8657613"/>
                </a:lnTo>
                <a:lnTo>
                  <a:pt x="0" y="8657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65" t="0" r="-104452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853991" y="1028700"/>
            <a:ext cx="11405309" cy="2102503"/>
            <a:chOff x="0" y="0"/>
            <a:chExt cx="15207079" cy="280333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15207079" cy="171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199"/>
                </a:lnSpc>
              </a:pPr>
              <a:r>
                <a:rPr lang="en-US" sz="8499" b="true">
                  <a:solidFill>
                    <a:srgbClr val="A20E2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¿Por que?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042184"/>
              <a:ext cx="15207079" cy="761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Los juegos móviles son mas lucrativos y rentables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3296" y="0"/>
            <a:ext cx="18288000" cy="10287000"/>
            <a:chOff x="0" y="0"/>
            <a:chExt cx="24384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5218" t="0" r="15218" b="0"/>
            <a:stretch>
              <a:fillRect/>
            </a:stretch>
          </p:blipFill>
          <p:spPr>
            <a:xfrm flipH="false" flipV="false">
              <a:off x="0" y="0"/>
              <a:ext cx="12128500" cy="6794500"/>
            </a:xfrm>
            <a:prstGeom prst="rect">
              <a:avLst/>
            </a:prstGeom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143" r="0" b="143"/>
            <a:stretch>
              <a:fillRect/>
            </a:stretch>
          </p:blipFill>
          <p:spPr>
            <a:xfrm flipH="false" flipV="false">
              <a:off x="12255500" y="0"/>
              <a:ext cx="12128500" cy="6794500"/>
            </a:xfrm>
            <a:prstGeom prst="rect">
              <a:avLst/>
            </a:prstGeom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0" t="203" r="0" b="203"/>
            <a:stretch>
              <a:fillRect/>
            </a:stretch>
          </p:blipFill>
          <p:spPr>
            <a:xfrm flipH="false" flipV="false">
              <a:off x="0" y="6921500"/>
              <a:ext cx="12128500" cy="6794500"/>
            </a:xfrm>
            <a:prstGeom prst="rect">
              <a:avLst/>
            </a:prstGeom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5"/>
            <a:srcRect l="0" t="203" r="0" b="203"/>
            <a:stretch>
              <a:fillRect/>
            </a:stretch>
          </p:blipFill>
          <p:spPr>
            <a:xfrm flipH="false" flipV="false">
              <a:off x="12255500" y="6921500"/>
              <a:ext cx="12128500" cy="6794500"/>
            </a:xfrm>
            <a:prstGeom prst="rect">
              <a:avLst/>
            </a:prstGeom>
          </p:spPr>
        </p:pic>
      </p:grpSp>
      <p:sp>
        <p:nvSpPr>
          <p:cNvPr name="Freeform 7" id="7"/>
          <p:cNvSpPr/>
          <p:nvPr/>
        </p:nvSpPr>
        <p:spPr>
          <a:xfrm flipH="false" flipV="false" rot="0">
            <a:off x="0" y="0"/>
            <a:ext cx="9060704" cy="5096646"/>
          </a:xfrm>
          <a:custGeom>
            <a:avLst/>
            <a:gdLst/>
            <a:ahLst/>
            <a:cxnLst/>
            <a:rect r="r" b="b" t="t" l="l"/>
            <a:pathLst>
              <a:path h="5096646" w="9060704">
                <a:moveTo>
                  <a:pt x="0" y="0"/>
                </a:moveTo>
                <a:lnTo>
                  <a:pt x="9060704" y="0"/>
                </a:lnTo>
                <a:lnTo>
                  <a:pt x="9060704" y="5096646"/>
                </a:lnTo>
                <a:lnTo>
                  <a:pt x="0" y="50966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428966" y="3072577"/>
            <a:ext cx="5263476" cy="4141845"/>
            <a:chOff x="0" y="0"/>
            <a:chExt cx="1298489" cy="10217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8489" cy="1021785"/>
            </a:xfrm>
            <a:custGeom>
              <a:avLst/>
              <a:gdLst/>
              <a:ahLst/>
              <a:cxnLst/>
              <a:rect r="r" b="b" t="t" l="l"/>
              <a:pathLst>
                <a:path h="1021785" w="1298489">
                  <a:moveTo>
                    <a:pt x="649245" y="0"/>
                  </a:moveTo>
                  <a:lnTo>
                    <a:pt x="1298489" y="203200"/>
                  </a:lnTo>
                  <a:lnTo>
                    <a:pt x="1298489" y="818585"/>
                  </a:lnTo>
                  <a:lnTo>
                    <a:pt x="649245" y="1021785"/>
                  </a:lnTo>
                  <a:lnTo>
                    <a:pt x="0" y="818585"/>
                  </a:lnTo>
                  <a:lnTo>
                    <a:pt x="0" y="203200"/>
                  </a:lnTo>
                  <a:lnTo>
                    <a:pt x="649245" y="0"/>
                  </a:lnTo>
                  <a:close/>
                </a:path>
              </a:pathLst>
            </a:custGeom>
            <a:solidFill>
              <a:srgbClr val="A20E2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11125"/>
              <a:ext cx="1298489" cy="770960"/>
            </a:xfrm>
            <a:prstGeom prst="rect">
              <a:avLst/>
            </a:prstGeom>
          </p:spPr>
          <p:txBody>
            <a:bodyPr anchor="ctr" rtlCol="false" tIns="40519" lIns="40519" bIns="40519" rIns="40519"/>
            <a:lstStyle/>
            <a:p>
              <a:pPr algn="ctr">
                <a:lnSpc>
                  <a:spcPts val="167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296181" y="4810442"/>
            <a:ext cx="3695637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Ética y moral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87623" y="9258300"/>
            <a:ext cx="5765006" cy="1028700"/>
            <a:chOff x="0" y="0"/>
            <a:chExt cx="7686674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7686674" cy="1371600"/>
              <a:chOff x="0" y="0"/>
              <a:chExt cx="1049690" cy="18730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49690" cy="187305"/>
              </a:xfrm>
              <a:custGeom>
                <a:avLst/>
                <a:gdLst/>
                <a:ahLst/>
                <a:cxnLst/>
                <a:rect r="r" b="b" t="t" l="l"/>
                <a:pathLst>
                  <a:path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A20E2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033168" y="475615"/>
              <a:ext cx="2698286" cy="39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Back to Agenda</a:t>
              </a: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2497045" y="263771"/>
            <a:ext cx="15080946" cy="10271459"/>
            <a:chOff x="0" y="0"/>
            <a:chExt cx="5475623" cy="37293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75623" cy="3729384"/>
            </a:xfrm>
            <a:custGeom>
              <a:avLst/>
              <a:gdLst/>
              <a:ahLst/>
              <a:cxnLst/>
              <a:rect r="r" b="b" t="t" l="l"/>
              <a:pathLst>
                <a:path h="3729384" w="5475623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solidFill>
              <a:srgbClr val="E8223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75623" cy="3729384"/>
            </a:xfrm>
            <a:custGeom>
              <a:avLst/>
              <a:gdLst/>
              <a:ahLst/>
              <a:cxnLst/>
              <a:rect r="r" b="b" t="t" l="l"/>
              <a:pathLst>
                <a:path h="3729384" w="5475623">
                  <a:moveTo>
                    <a:pt x="3322462" y="3729384"/>
                  </a:moveTo>
                  <a:lnTo>
                    <a:pt x="0" y="3729384"/>
                  </a:lnTo>
                  <a:lnTo>
                    <a:pt x="2153161" y="0"/>
                  </a:lnTo>
                  <a:lnTo>
                    <a:pt x="5475623" y="0"/>
                  </a:lnTo>
                  <a:lnTo>
                    <a:pt x="3322462" y="3729384"/>
                  </a:lnTo>
                  <a:close/>
                </a:path>
              </a:pathLst>
            </a:custGeom>
            <a:blipFill>
              <a:blip r:embed="rId2"/>
              <a:stretch>
                <a:fillRect l="-1113" t="0" r="-111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48449" y="4606812"/>
            <a:ext cx="4578325" cy="1073376"/>
            <a:chOff x="0" y="0"/>
            <a:chExt cx="1205814" cy="282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5814" cy="282700"/>
            </a:xfrm>
            <a:custGeom>
              <a:avLst/>
              <a:gdLst/>
              <a:ahLst/>
              <a:cxnLst/>
              <a:rect r="r" b="b" t="t" l="l"/>
              <a:pathLst>
                <a:path h="282700" w="1205814">
                  <a:moveTo>
                    <a:pt x="0" y="0"/>
                  </a:moveTo>
                  <a:lnTo>
                    <a:pt x="1205814" y="0"/>
                  </a:lnTo>
                  <a:lnTo>
                    <a:pt x="1205814" y="282700"/>
                  </a:lnTo>
                  <a:lnTo>
                    <a:pt x="0" y="282700"/>
                  </a:lnTo>
                  <a:close/>
                </a:path>
              </a:pathLst>
            </a:custGeom>
            <a:solidFill>
              <a:srgbClr val="E4E4E4"/>
            </a:solidFill>
            <a:ln w="9525" cap="sq">
              <a:solidFill>
                <a:srgbClr val="2A2E3A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205814" cy="339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A20E2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Mas rentable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10958" y="4606812"/>
            <a:ext cx="4578325" cy="1073376"/>
            <a:chOff x="0" y="0"/>
            <a:chExt cx="1205814" cy="2827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5814" cy="282700"/>
            </a:xfrm>
            <a:custGeom>
              <a:avLst/>
              <a:gdLst/>
              <a:ahLst/>
              <a:cxnLst/>
              <a:rect r="r" b="b" t="t" l="l"/>
              <a:pathLst>
                <a:path h="282700" w="1205814">
                  <a:moveTo>
                    <a:pt x="0" y="0"/>
                  </a:moveTo>
                  <a:lnTo>
                    <a:pt x="1205814" y="0"/>
                  </a:lnTo>
                  <a:lnTo>
                    <a:pt x="1205814" y="282700"/>
                  </a:lnTo>
                  <a:lnTo>
                    <a:pt x="0" y="282700"/>
                  </a:lnTo>
                  <a:close/>
                </a:path>
              </a:pathLst>
            </a:custGeom>
            <a:solidFill>
              <a:srgbClr val="E4E4E4"/>
            </a:solidFill>
            <a:ln w="9525" cap="sq">
              <a:solidFill>
                <a:srgbClr val="2A2E3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205814" cy="339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A20E2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Estrategia / Colección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-10800000">
            <a:off x="14447117" y="-331087"/>
            <a:ext cx="7681766" cy="3540443"/>
            <a:chOff x="0" y="0"/>
            <a:chExt cx="406400" cy="1873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6400" cy="187305"/>
            </a:xfrm>
            <a:custGeom>
              <a:avLst/>
              <a:gdLst/>
              <a:ahLst/>
              <a:cxnLst/>
              <a:rect r="r" b="b" t="t" l="l"/>
              <a:pathLst>
                <a:path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8223B">
                <a:alpha val="8000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475058" y="4599042"/>
            <a:ext cx="4578325" cy="1073376"/>
            <a:chOff x="0" y="0"/>
            <a:chExt cx="1205814" cy="282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05814" cy="282700"/>
            </a:xfrm>
            <a:custGeom>
              <a:avLst/>
              <a:gdLst/>
              <a:ahLst/>
              <a:cxnLst/>
              <a:rect r="r" b="b" t="t" l="l"/>
              <a:pathLst>
                <a:path h="282700" w="1205814">
                  <a:moveTo>
                    <a:pt x="0" y="0"/>
                  </a:moveTo>
                  <a:lnTo>
                    <a:pt x="1205814" y="0"/>
                  </a:lnTo>
                  <a:lnTo>
                    <a:pt x="1205814" y="282700"/>
                  </a:lnTo>
                  <a:lnTo>
                    <a:pt x="0" y="282700"/>
                  </a:lnTo>
                  <a:close/>
                </a:path>
              </a:pathLst>
            </a:custGeom>
            <a:solidFill>
              <a:srgbClr val="E4E4E4"/>
            </a:solidFill>
            <a:ln w="9525" cap="sq">
              <a:solidFill>
                <a:srgbClr val="2A2E3A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205814" cy="339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A20E20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Ética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1439135"/>
            <a:ext cx="12627597" cy="2093754"/>
            <a:chOff x="0" y="0"/>
            <a:chExt cx="16836795" cy="2791672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0"/>
              <a:ext cx="16836795" cy="171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199"/>
                </a:lnSpc>
              </a:pPr>
              <a:r>
                <a:rPr lang="en-US" sz="8499" b="true">
                  <a:solidFill>
                    <a:srgbClr val="A20E2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Conclusión 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2030518"/>
              <a:ext cx="13798468" cy="761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De las metas establecidas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348449" y="5725649"/>
            <a:ext cx="457832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Los juegos móviles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494254" y="5904719"/>
            <a:ext cx="4578325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Juegos simples con mecánicas de colección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75058" y="5904719"/>
            <a:ext cx="4578325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Estrategias lucrativas similares a casinos para todo público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48528" y="4096623"/>
            <a:ext cx="1990944" cy="2093754"/>
            <a:chOff x="0" y="0"/>
            <a:chExt cx="2654592" cy="279167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2654592" cy="171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199"/>
                </a:lnSpc>
              </a:pPr>
              <a:r>
                <a:rPr lang="en-US" sz="8499" b="true">
                  <a:solidFill>
                    <a:srgbClr val="A20E2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Fin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030518"/>
              <a:ext cx="2175551" cy="761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DAGXgTRl0jA</dc:identifier>
  <dcterms:modified xsi:type="dcterms:W3CDTF">2011-08-01T06:04:30Z</dcterms:modified>
  <cp:revision>1</cp:revision>
  <dc:title>Company Profile</dc:title>
</cp:coreProperties>
</file>